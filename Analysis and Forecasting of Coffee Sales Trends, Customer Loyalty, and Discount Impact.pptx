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lexandria" panose="020B0604020202020204" charset="-78"/>
      <p:regular r:id="rId12"/>
    </p:embeddedFont>
    <p:embeddedFont>
      <p:font typeface="Alexandria Bold" panose="020B0604020202020204" charset="-78"/>
      <p:regular r:id="rId13"/>
    </p:embeddedFont>
    <p:embeddedFont>
      <p:font typeface="Garet" panose="020B0604020202020204" charset="0"/>
      <p:regular r:id="rId14"/>
    </p:embeddedFont>
    <p:embeddedFont>
      <p:font typeface="Garet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sv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904719" y="-1866164"/>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646033" y="5694275"/>
            <a:ext cx="4840370" cy="6758253"/>
          </a:xfrm>
          <a:custGeom>
            <a:avLst/>
            <a:gdLst/>
            <a:ahLst/>
            <a:cxnLst/>
            <a:rect l="l" t="t" r="r" b="b"/>
            <a:pathLst>
              <a:path w="4840370" h="6758253">
                <a:moveTo>
                  <a:pt x="4840371" y="6758253"/>
                </a:moveTo>
                <a:lnTo>
                  <a:pt x="0" y="6758253"/>
                </a:lnTo>
                <a:lnTo>
                  <a:pt x="0" y="0"/>
                </a:lnTo>
                <a:lnTo>
                  <a:pt x="4840371" y="0"/>
                </a:lnTo>
                <a:lnTo>
                  <a:pt x="4840371" y="675825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212327" flipH="1">
            <a:off x="-2308798" y="5373348"/>
            <a:ext cx="7684967" cy="7684967"/>
          </a:xfrm>
          <a:custGeom>
            <a:avLst/>
            <a:gdLst/>
            <a:ahLst/>
            <a:cxnLst/>
            <a:rect l="l" t="t" r="r" b="b"/>
            <a:pathLst>
              <a:path w="7684967" h="7684967">
                <a:moveTo>
                  <a:pt x="7684968" y="0"/>
                </a:moveTo>
                <a:lnTo>
                  <a:pt x="0" y="0"/>
                </a:lnTo>
                <a:lnTo>
                  <a:pt x="0" y="7684967"/>
                </a:lnTo>
                <a:lnTo>
                  <a:pt x="7684968" y="7684967"/>
                </a:lnTo>
                <a:lnTo>
                  <a:pt x="76849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4593311" y="3630733"/>
            <a:ext cx="7684967" cy="7684967"/>
          </a:xfrm>
          <a:custGeom>
            <a:avLst/>
            <a:gdLst/>
            <a:ahLst/>
            <a:cxnLst/>
            <a:rect l="l" t="t" r="r" b="b"/>
            <a:pathLst>
              <a:path w="7684967" h="7684967">
                <a:moveTo>
                  <a:pt x="7684967" y="0"/>
                </a:moveTo>
                <a:lnTo>
                  <a:pt x="0" y="0"/>
                </a:lnTo>
                <a:lnTo>
                  <a:pt x="0" y="7684967"/>
                </a:lnTo>
                <a:lnTo>
                  <a:pt x="7684967" y="7684967"/>
                </a:lnTo>
                <a:lnTo>
                  <a:pt x="768496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176744" flipV="1">
            <a:off x="12281842" y="-3234705"/>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12348517" y="-3496396"/>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1794313" y="2996548"/>
            <a:ext cx="5978434" cy="5274362"/>
          </a:xfrm>
          <a:custGeom>
            <a:avLst/>
            <a:gdLst/>
            <a:ahLst/>
            <a:cxnLst/>
            <a:rect l="l" t="t" r="r" b="b"/>
            <a:pathLst>
              <a:path w="5978434" h="5274362">
                <a:moveTo>
                  <a:pt x="0" y="0"/>
                </a:moveTo>
                <a:lnTo>
                  <a:pt x="5978433" y="0"/>
                </a:lnTo>
                <a:lnTo>
                  <a:pt x="5978433" y="5274363"/>
                </a:lnTo>
                <a:lnTo>
                  <a:pt x="0" y="5274363"/>
                </a:lnTo>
                <a:lnTo>
                  <a:pt x="0" y="0"/>
                </a:lnTo>
                <a:close/>
              </a:path>
            </a:pathLst>
          </a:custGeom>
          <a:blipFill>
            <a:blip r:embed="rId8"/>
            <a:stretch>
              <a:fillRect/>
            </a:stretch>
          </a:blipFill>
        </p:spPr>
      </p:sp>
      <p:sp>
        <p:nvSpPr>
          <p:cNvPr id="9" name="TextBox 9"/>
          <p:cNvSpPr txBox="1"/>
          <p:nvPr/>
        </p:nvSpPr>
        <p:spPr>
          <a:xfrm>
            <a:off x="883377" y="1053382"/>
            <a:ext cx="11756872" cy="2625725"/>
          </a:xfrm>
          <a:prstGeom prst="rect">
            <a:avLst/>
          </a:prstGeom>
        </p:spPr>
        <p:txBody>
          <a:bodyPr lIns="0" tIns="0" rIns="0" bIns="0" rtlCol="0" anchor="t">
            <a:spAutoFit/>
          </a:bodyPr>
          <a:lstStyle/>
          <a:p>
            <a:pPr algn="l">
              <a:lnSpc>
                <a:spcPts val="7000"/>
              </a:lnSpc>
            </a:pPr>
            <a:r>
              <a:rPr lang="en-US" sz="5000" b="1" dirty="0">
                <a:solidFill>
                  <a:srgbClr val="251711"/>
                </a:solidFill>
                <a:latin typeface="Alexandria Bold"/>
                <a:ea typeface="Alexandria Bold"/>
                <a:cs typeface="Alexandria Bold"/>
                <a:sym typeface="Alexandria Bold"/>
              </a:rPr>
              <a:t>ANALYSIS OF COFFEE SALES TRENDS, CUSTOMER LOYALTY, AND DISCOUNT IMPACT</a:t>
            </a:r>
          </a:p>
        </p:txBody>
      </p:sp>
      <p:sp>
        <p:nvSpPr>
          <p:cNvPr id="10" name="TextBox 10"/>
          <p:cNvSpPr txBox="1"/>
          <p:nvPr/>
        </p:nvSpPr>
        <p:spPr>
          <a:xfrm>
            <a:off x="883377" y="4389727"/>
            <a:ext cx="8260623" cy="1749425"/>
          </a:xfrm>
          <a:prstGeom prst="rect">
            <a:avLst/>
          </a:prstGeom>
        </p:spPr>
        <p:txBody>
          <a:bodyPr lIns="0" tIns="0" rIns="0" bIns="0" rtlCol="0" anchor="t">
            <a:spAutoFit/>
          </a:bodyPr>
          <a:lstStyle/>
          <a:p>
            <a:pPr algn="l">
              <a:lnSpc>
                <a:spcPts val="7000"/>
              </a:lnSpc>
              <a:spcBef>
                <a:spcPct val="0"/>
              </a:spcBef>
            </a:pPr>
            <a:r>
              <a:rPr lang="en-US" sz="5000" b="1">
                <a:solidFill>
                  <a:srgbClr val="771F18"/>
                </a:solidFill>
                <a:latin typeface="Garet Bold"/>
                <a:ea typeface="Garet Bold"/>
                <a:cs typeface="Garet Bold"/>
                <a:sym typeface="Garet Bold"/>
              </a:rPr>
              <a:t>BDM CAPSTONE PROJECT PRESENTATION</a:t>
            </a:r>
          </a:p>
        </p:txBody>
      </p:sp>
      <p:sp>
        <p:nvSpPr>
          <p:cNvPr id="11" name="TextBox 11"/>
          <p:cNvSpPr txBox="1"/>
          <p:nvPr/>
        </p:nvSpPr>
        <p:spPr>
          <a:xfrm>
            <a:off x="11964952" y="8475026"/>
            <a:ext cx="6262092" cy="869950"/>
          </a:xfrm>
          <a:prstGeom prst="rect">
            <a:avLst/>
          </a:prstGeom>
        </p:spPr>
        <p:txBody>
          <a:bodyPr lIns="0" tIns="0" rIns="0" bIns="0" rtlCol="0" anchor="t">
            <a:spAutoFit/>
          </a:bodyPr>
          <a:lstStyle/>
          <a:p>
            <a:pPr algn="just">
              <a:lnSpc>
                <a:spcPts val="3500"/>
              </a:lnSpc>
              <a:spcBef>
                <a:spcPct val="0"/>
              </a:spcBef>
            </a:pPr>
            <a:r>
              <a:rPr lang="en-US" sz="2500" b="1">
                <a:solidFill>
                  <a:srgbClr val="000000"/>
                </a:solidFill>
                <a:latin typeface="Garet Bold"/>
                <a:ea typeface="Garet Bold"/>
                <a:cs typeface="Garet Bold"/>
                <a:sym typeface="Garet Bold"/>
              </a:rPr>
              <a:t>Indian Institute of Technology Madras</a:t>
            </a:r>
          </a:p>
          <a:p>
            <a:pPr algn="just">
              <a:lnSpc>
                <a:spcPts val="3500"/>
              </a:lnSpc>
              <a:spcBef>
                <a:spcPct val="0"/>
              </a:spcBef>
            </a:pPr>
            <a:r>
              <a:rPr lang="en-US" sz="2500" b="1">
                <a:solidFill>
                  <a:srgbClr val="000000"/>
                </a:solidFill>
                <a:latin typeface="Garet Bold"/>
                <a:ea typeface="Garet Bold"/>
                <a:cs typeface="Garet Bold"/>
                <a:sym typeface="Garet Bold"/>
              </a:rPr>
              <a:t>Chennai Tamil Nadu, India, 600036</a:t>
            </a:r>
          </a:p>
        </p:txBody>
      </p:sp>
      <p:sp>
        <p:nvSpPr>
          <p:cNvPr id="12" name="TextBox 12"/>
          <p:cNvSpPr txBox="1"/>
          <p:nvPr/>
        </p:nvSpPr>
        <p:spPr>
          <a:xfrm>
            <a:off x="883377" y="6902766"/>
            <a:ext cx="9996607" cy="2035810"/>
          </a:xfrm>
          <a:prstGeom prst="rect">
            <a:avLst/>
          </a:prstGeom>
        </p:spPr>
        <p:txBody>
          <a:bodyPr lIns="0" tIns="0" rIns="0" bIns="0" rtlCol="0" anchor="t">
            <a:spAutoFit/>
          </a:bodyPr>
          <a:lstStyle/>
          <a:p>
            <a:pPr algn="l">
              <a:lnSpc>
                <a:spcPts val="5599"/>
              </a:lnSpc>
            </a:pPr>
            <a:r>
              <a:rPr lang="en-US" sz="3999" b="1">
                <a:solidFill>
                  <a:srgbClr val="251711"/>
                </a:solidFill>
                <a:latin typeface="Garet Bold"/>
                <a:ea typeface="Garet Bold"/>
                <a:cs typeface="Garet Bold"/>
                <a:sym typeface="Garet Bold"/>
              </a:rPr>
              <a:t>NAME: SUDHANSHU PRABHAT </a:t>
            </a:r>
          </a:p>
          <a:p>
            <a:pPr algn="l">
              <a:lnSpc>
                <a:spcPts val="5599"/>
              </a:lnSpc>
            </a:pPr>
            <a:r>
              <a:rPr lang="en-US" sz="3999" b="1">
                <a:solidFill>
                  <a:srgbClr val="251711"/>
                </a:solidFill>
                <a:latin typeface="Garet Bold"/>
                <a:ea typeface="Garet Bold"/>
                <a:cs typeface="Garet Bold"/>
                <a:sym typeface="Garet Bold"/>
              </a:rPr>
              <a:t>ROLL NUMBER: 23F1001796</a:t>
            </a:r>
          </a:p>
          <a:p>
            <a:pPr algn="l">
              <a:lnSpc>
                <a:spcPts val="5179"/>
              </a:lnSpc>
              <a:spcBef>
                <a:spcPct val="0"/>
              </a:spcBef>
            </a:pPr>
            <a:r>
              <a:rPr lang="en-US" sz="3699" b="1">
                <a:solidFill>
                  <a:srgbClr val="251711"/>
                </a:solidFill>
                <a:latin typeface="Garet Bold"/>
                <a:ea typeface="Garet Bold"/>
                <a:cs typeface="Garet Bold"/>
                <a:sym typeface="Garet Bold"/>
              </a:rPr>
              <a:t>EMAIL: ds23f1001796@ds.study.iitm.ac.in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Freeform 5"/>
          <p:cNvSpPr/>
          <p:nvPr/>
        </p:nvSpPr>
        <p:spPr>
          <a:xfrm>
            <a:off x="12991445" y="2071836"/>
            <a:ext cx="5052784" cy="5515948"/>
          </a:xfrm>
          <a:custGeom>
            <a:avLst/>
            <a:gdLst/>
            <a:ahLst/>
            <a:cxnLst/>
            <a:rect l="l" t="t" r="r" b="b"/>
            <a:pathLst>
              <a:path w="5052784" h="5515948">
                <a:moveTo>
                  <a:pt x="0" y="0"/>
                </a:moveTo>
                <a:lnTo>
                  <a:pt x="5052784" y="0"/>
                </a:lnTo>
                <a:lnTo>
                  <a:pt x="5052784" y="5515948"/>
                </a:lnTo>
                <a:lnTo>
                  <a:pt x="0" y="5515948"/>
                </a:lnTo>
                <a:lnTo>
                  <a:pt x="0" y="0"/>
                </a:lnTo>
                <a:close/>
              </a:path>
            </a:pathLst>
          </a:custGeom>
          <a:blipFill>
            <a:blip r:embed="rId6"/>
            <a:stretch>
              <a:fillRect l="-4583" r="-4583"/>
            </a:stretch>
          </a:blipFill>
          <a:ln w="152400" cap="sq">
            <a:solidFill>
              <a:srgbClr val="000000"/>
            </a:solidFill>
            <a:prstDash val="solid"/>
            <a:miter/>
          </a:ln>
        </p:spPr>
      </p:sp>
      <p:sp>
        <p:nvSpPr>
          <p:cNvPr id="6" name="TextBox 6"/>
          <p:cNvSpPr txBox="1"/>
          <p:nvPr/>
        </p:nvSpPr>
        <p:spPr>
          <a:xfrm>
            <a:off x="-42714" y="933450"/>
            <a:ext cx="12227929" cy="854075"/>
          </a:xfrm>
          <a:prstGeom prst="rect">
            <a:avLst/>
          </a:prstGeom>
        </p:spPr>
        <p:txBody>
          <a:bodyPr lIns="0" tIns="0" rIns="0" bIns="0" rtlCol="0" anchor="t">
            <a:spAutoFit/>
          </a:bodyPr>
          <a:lstStyle/>
          <a:p>
            <a:pPr marL="1079501" lvl="1" indent="-539750" algn="l">
              <a:lnSpc>
                <a:spcPts val="7000"/>
              </a:lnSpc>
              <a:buAutoNum type="arabicPeriod"/>
            </a:pPr>
            <a:r>
              <a:rPr lang="en-US" sz="5000" b="1">
                <a:solidFill>
                  <a:srgbClr val="771F18"/>
                </a:solidFill>
                <a:latin typeface="Alexandria Bold"/>
                <a:ea typeface="Alexandria Bold"/>
                <a:cs typeface="Alexandria Bold"/>
                <a:sym typeface="Alexandria Bold"/>
              </a:rPr>
              <a:t>ORGANISATION BACKGROUND</a:t>
            </a:r>
          </a:p>
        </p:txBody>
      </p:sp>
      <p:sp>
        <p:nvSpPr>
          <p:cNvPr id="7" name="TextBox 7"/>
          <p:cNvSpPr txBox="1"/>
          <p:nvPr/>
        </p:nvSpPr>
        <p:spPr>
          <a:xfrm>
            <a:off x="577106" y="2172097"/>
            <a:ext cx="11522172" cy="1931298"/>
          </a:xfrm>
          <a:prstGeom prst="rect">
            <a:avLst/>
          </a:prstGeom>
        </p:spPr>
        <p:txBody>
          <a:bodyPr lIns="0" tIns="0" rIns="0" bIns="0" rtlCol="0" anchor="t">
            <a:spAutoFit/>
          </a:bodyPr>
          <a:lstStyle/>
          <a:p>
            <a:pPr algn="just">
              <a:lnSpc>
                <a:spcPts val="3779"/>
              </a:lnSpc>
              <a:spcBef>
                <a:spcPct val="0"/>
              </a:spcBef>
            </a:pPr>
            <a:r>
              <a:rPr lang="en-US" sz="2700" dirty="0" err="1">
                <a:solidFill>
                  <a:srgbClr val="545454"/>
                </a:solidFill>
                <a:latin typeface="Garet"/>
                <a:ea typeface="Garet"/>
                <a:cs typeface="Garet"/>
                <a:sym typeface="Garet"/>
              </a:rPr>
              <a:t>QahwaCo</a:t>
            </a:r>
            <a:r>
              <a:rPr lang="en-US" sz="2700" dirty="0">
                <a:solidFill>
                  <a:srgbClr val="545454"/>
                </a:solidFill>
                <a:latin typeface="Garet"/>
                <a:ea typeface="Garet"/>
                <a:cs typeface="Garet"/>
                <a:sym typeface="Garet"/>
              </a:rPr>
              <a:t> is a coffee company in Saudi Arabia, they have been providing specialty coffee to their customers since 2020. Their varieties include some of the most desired origins such as Brazil, Ethiopia, Colombia, Costa Rica and Guatemala.</a:t>
            </a: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01</a:t>
            </a:r>
          </a:p>
        </p:txBody>
      </p:sp>
      <p:sp>
        <p:nvSpPr>
          <p:cNvPr id="9" name="TextBox 9"/>
          <p:cNvSpPr txBox="1"/>
          <p:nvPr/>
        </p:nvSpPr>
        <p:spPr>
          <a:xfrm>
            <a:off x="0" y="5188421"/>
            <a:ext cx="10503233" cy="803430"/>
          </a:xfrm>
          <a:prstGeom prst="rect">
            <a:avLst/>
          </a:prstGeom>
        </p:spPr>
        <p:txBody>
          <a:bodyPr lIns="0" tIns="0" rIns="0" bIns="0" rtlCol="0" anchor="t">
            <a:spAutoFit/>
          </a:bodyPr>
          <a:lstStyle/>
          <a:p>
            <a:pPr marL="1024208" lvl="1" indent="-512104" algn="l">
              <a:lnSpc>
                <a:spcPts val="6641"/>
              </a:lnSpc>
              <a:spcBef>
                <a:spcPct val="0"/>
              </a:spcBef>
              <a:buAutoNum type="arabicPeriod"/>
            </a:pPr>
            <a:r>
              <a:rPr lang="en-US" sz="4743" b="1">
                <a:solidFill>
                  <a:srgbClr val="771F18"/>
                </a:solidFill>
                <a:latin typeface="Garet Bold"/>
                <a:ea typeface="Garet Bold"/>
                <a:cs typeface="Garet Bold"/>
                <a:sym typeface="Garet Bold"/>
              </a:rPr>
              <a:t>ORGANISATION PROBLEMS</a:t>
            </a:r>
          </a:p>
        </p:txBody>
      </p:sp>
      <p:sp>
        <p:nvSpPr>
          <p:cNvPr id="10" name="TextBox 10"/>
          <p:cNvSpPr txBox="1"/>
          <p:nvPr/>
        </p:nvSpPr>
        <p:spPr>
          <a:xfrm>
            <a:off x="577106" y="6372851"/>
            <a:ext cx="11694047" cy="1931298"/>
          </a:xfrm>
          <a:prstGeom prst="rect">
            <a:avLst/>
          </a:prstGeom>
        </p:spPr>
        <p:txBody>
          <a:bodyPr lIns="0" tIns="0" rIns="0" bIns="0" rtlCol="0" anchor="t">
            <a:spAutoFit/>
          </a:bodyPr>
          <a:lstStyle/>
          <a:p>
            <a:pPr algn="just">
              <a:lnSpc>
                <a:spcPts val="3779"/>
              </a:lnSpc>
              <a:spcBef>
                <a:spcPct val="0"/>
              </a:spcBef>
            </a:pPr>
            <a:r>
              <a:rPr lang="en-US" sz="2700" dirty="0" err="1">
                <a:solidFill>
                  <a:srgbClr val="545454"/>
                </a:solidFill>
                <a:latin typeface="Garet"/>
                <a:ea typeface="Garet"/>
                <a:cs typeface="Garet"/>
                <a:sym typeface="Garet"/>
              </a:rPr>
              <a:t>QahwaCo</a:t>
            </a:r>
            <a:r>
              <a:rPr lang="en-US" sz="2700" dirty="0">
                <a:solidFill>
                  <a:srgbClr val="545454"/>
                </a:solidFill>
                <a:latin typeface="Garet"/>
                <a:ea typeface="Garet"/>
                <a:cs typeface="Garet"/>
                <a:sym typeface="Garet"/>
              </a:rPr>
              <a:t> struggles to keep up with rapidly changing coffee trends and customer preferences, making inventory planning and understanding the impact of discounts difficult despite growing market demand.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43650" y="5920105"/>
            <a:ext cx="5062823" cy="2360295"/>
          </a:xfrm>
          <a:prstGeom prst="rect">
            <a:avLst/>
          </a:prstGeom>
        </p:spPr>
        <p:txBody>
          <a:bodyPr lIns="0" tIns="0" rIns="0" bIns="0" rtlCol="0" anchor="t">
            <a:spAutoFit/>
          </a:bodyPr>
          <a:lstStyle/>
          <a:p>
            <a:pPr algn="just">
              <a:lnSpc>
                <a:spcPts val="3779"/>
              </a:lnSpc>
              <a:spcBef>
                <a:spcPct val="0"/>
              </a:spcBef>
            </a:pPr>
            <a:r>
              <a:rPr lang="en-US" sz="2700">
                <a:solidFill>
                  <a:srgbClr val="545454"/>
                </a:solidFill>
                <a:latin typeface="Garet"/>
                <a:ea typeface="Garet"/>
                <a:cs typeface="Garet"/>
                <a:sym typeface="Garet"/>
              </a:rPr>
              <a:t>Analysing trends in coffee sales to aid QahwaCo in making data-driven inventory decisions and forecasting.</a:t>
            </a: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AutoShape 5"/>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6" name="Freeform 6"/>
          <p:cNvSpPr/>
          <p:nvPr/>
        </p:nvSpPr>
        <p:spPr>
          <a:xfrm>
            <a:off x="6356919" y="1575596"/>
            <a:ext cx="5289829" cy="4144106"/>
          </a:xfrm>
          <a:custGeom>
            <a:avLst/>
            <a:gdLst/>
            <a:ahLst/>
            <a:cxnLst/>
            <a:rect l="l" t="t" r="r" b="b"/>
            <a:pathLst>
              <a:path w="5289829" h="4144106">
                <a:moveTo>
                  <a:pt x="0" y="0"/>
                </a:moveTo>
                <a:lnTo>
                  <a:pt x="5289829" y="0"/>
                </a:lnTo>
                <a:lnTo>
                  <a:pt x="5289829" y="4144106"/>
                </a:lnTo>
                <a:lnTo>
                  <a:pt x="0" y="4144106"/>
                </a:lnTo>
                <a:lnTo>
                  <a:pt x="0" y="0"/>
                </a:lnTo>
                <a:close/>
              </a:path>
            </a:pathLst>
          </a:custGeom>
          <a:blipFill>
            <a:blip r:embed="rId6"/>
            <a:stretch>
              <a:fillRect l="-33141" t="-10371" r="-33525" b="-8499"/>
            </a:stretch>
          </a:blipFill>
        </p:spPr>
      </p:sp>
      <p:sp>
        <p:nvSpPr>
          <p:cNvPr id="7" name="Freeform 7"/>
          <p:cNvSpPr/>
          <p:nvPr/>
        </p:nvSpPr>
        <p:spPr>
          <a:xfrm>
            <a:off x="12762622" y="1568091"/>
            <a:ext cx="4723209" cy="4199614"/>
          </a:xfrm>
          <a:custGeom>
            <a:avLst/>
            <a:gdLst/>
            <a:ahLst/>
            <a:cxnLst/>
            <a:rect l="l" t="t" r="r" b="b"/>
            <a:pathLst>
              <a:path w="4723209" h="4199614">
                <a:moveTo>
                  <a:pt x="0" y="0"/>
                </a:moveTo>
                <a:lnTo>
                  <a:pt x="4723208" y="0"/>
                </a:lnTo>
                <a:lnTo>
                  <a:pt x="4723208" y="4199614"/>
                </a:lnTo>
                <a:lnTo>
                  <a:pt x="0" y="4199614"/>
                </a:lnTo>
                <a:lnTo>
                  <a:pt x="0" y="0"/>
                </a:lnTo>
                <a:close/>
              </a:path>
            </a:pathLst>
          </a:custGeom>
          <a:blipFill>
            <a:blip r:embed="rId7"/>
            <a:stretch>
              <a:fillRect t="-11733" b="-8669"/>
            </a:stretch>
          </a:blipFill>
        </p:spPr>
      </p:sp>
      <p:sp>
        <p:nvSpPr>
          <p:cNvPr id="8" name="Freeform 8"/>
          <p:cNvSpPr/>
          <p:nvPr/>
        </p:nvSpPr>
        <p:spPr>
          <a:xfrm>
            <a:off x="308458" y="1598204"/>
            <a:ext cx="5198015" cy="4098890"/>
          </a:xfrm>
          <a:custGeom>
            <a:avLst/>
            <a:gdLst/>
            <a:ahLst/>
            <a:cxnLst/>
            <a:rect l="l" t="t" r="r" b="b"/>
            <a:pathLst>
              <a:path w="5198015" h="4098890">
                <a:moveTo>
                  <a:pt x="0" y="0"/>
                </a:moveTo>
                <a:lnTo>
                  <a:pt x="5198014" y="0"/>
                </a:lnTo>
                <a:lnTo>
                  <a:pt x="5198014" y="4098890"/>
                </a:lnTo>
                <a:lnTo>
                  <a:pt x="0" y="4098890"/>
                </a:lnTo>
                <a:lnTo>
                  <a:pt x="0" y="0"/>
                </a:lnTo>
                <a:close/>
              </a:path>
            </a:pathLst>
          </a:custGeom>
          <a:blipFill>
            <a:blip r:embed="rId8"/>
            <a:stretch>
              <a:fillRect l="-28779" t="-4568" r="-28689" b="-7011"/>
            </a:stretch>
          </a:blipFill>
        </p:spPr>
      </p:sp>
      <p:sp>
        <p:nvSpPr>
          <p:cNvPr id="9" name="TextBox 9"/>
          <p:cNvSpPr txBox="1"/>
          <p:nvPr/>
        </p:nvSpPr>
        <p:spPr>
          <a:xfrm>
            <a:off x="4576774" y="398123"/>
            <a:ext cx="9134452" cy="854075"/>
          </a:xfrm>
          <a:prstGeom prst="rect">
            <a:avLst/>
          </a:prstGeom>
        </p:spPr>
        <p:txBody>
          <a:bodyPr lIns="0" tIns="0" rIns="0" bIns="0" rtlCol="0" anchor="t">
            <a:spAutoFit/>
          </a:bodyPr>
          <a:lstStyle/>
          <a:p>
            <a:pPr marL="1079501" lvl="1" indent="-539750" algn="l">
              <a:lnSpc>
                <a:spcPts val="7000"/>
              </a:lnSpc>
              <a:buAutoNum type="arabicPeriod"/>
            </a:pPr>
            <a:r>
              <a:rPr lang="en-US" sz="5000" b="1">
                <a:solidFill>
                  <a:srgbClr val="771F18"/>
                </a:solidFill>
                <a:latin typeface="Alexandria Bold"/>
                <a:ea typeface="Alexandria Bold"/>
                <a:cs typeface="Alexandria Bold"/>
                <a:sym typeface="Alexandria Bold"/>
              </a:rPr>
              <a:t>PROBLEM STATEMENTS</a:t>
            </a:r>
          </a:p>
        </p:txBody>
      </p:sp>
      <p:sp>
        <p:nvSpPr>
          <p:cNvPr id="10" name="TextBox 10"/>
          <p:cNvSpPr txBox="1"/>
          <p:nvPr/>
        </p:nvSpPr>
        <p:spPr>
          <a:xfrm>
            <a:off x="6356919" y="5995476"/>
            <a:ext cx="5484846" cy="2360295"/>
          </a:xfrm>
          <a:prstGeom prst="rect">
            <a:avLst/>
          </a:prstGeom>
        </p:spPr>
        <p:txBody>
          <a:bodyPr lIns="0" tIns="0" rIns="0" bIns="0" rtlCol="0" anchor="t">
            <a:spAutoFit/>
          </a:bodyPr>
          <a:lstStyle/>
          <a:p>
            <a:pPr algn="just">
              <a:lnSpc>
                <a:spcPts val="3779"/>
              </a:lnSpc>
              <a:spcBef>
                <a:spcPct val="0"/>
              </a:spcBef>
            </a:pPr>
            <a:r>
              <a:rPr lang="en-US" sz="2700">
                <a:solidFill>
                  <a:srgbClr val="545454"/>
                </a:solidFill>
                <a:latin typeface="Garet"/>
                <a:ea typeface="Garet"/>
                <a:cs typeface="Garet"/>
                <a:sym typeface="Garet"/>
              </a:rPr>
              <a:t>Exploring the influence of discounts on customer loyalty to understand what leads to repeat orders and customer retention.</a:t>
            </a:r>
          </a:p>
        </p:txBody>
      </p:sp>
      <p:sp>
        <p:nvSpPr>
          <p:cNvPr id="11" name="TextBox 11"/>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02</a:t>
            </a:r>
          </a:p>
        </p:txBody>
      </p:sp>
      <p:sp>
        <p:nvSpPr>
          <p:cNvPr id="12" name="TextBox 12"/>
          <p:cNvSpPr txBox="1"/>
          <p:nvPr/>
        </p:nvSpPr>
        <p:spPr>
          <a:xfrm>
            <a:off x="12684458" y="5920105"/>
            <a:ext cx="4801373" cy="2836545"/>
          </a:xfrm>
          <a:prstGeom prst="rect">
            <a:avLst/>
          </a:prstGeom>
        </p:spPr>
        <p:txBody>
          <a:bodyPr lIns="0" tIns="0" rIns="0" bIns="0" rtlCol="0" anchor="t">
            <a:spAutoFit/>
          </a:bodyPr>
          <a:lstStyle/>
          <a:p>
            <a:pPr algn="just">
              <a:lnSpc>
                <a:spcPts val="3779"/>
              </a:lnSpc>
              <a:spcBef>
                <a:spcPct val="0"/>
              </a:spcBef>
            </a:pPr>
            <a:r>
              <a:rPr lang="en-US" sz="2700">
                <a:solidFill>
                  <a:srgbClr val="545454"/>
                </a:solidFill>
                <a:latin typeface="Garet"/>
                <a:ea typeface="Garet"/>
                <a:cs typeface="Garet"/>
                <a:sym typeface="Garet"/>
              </a:rPr>
              <a:t>Analyzing city-level sales performance to understand variations in average order value, discount usage, and revenue contribution.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Freeform 5"/>
          <p:cNvSpPr/>
          <p:nvPr/>
        </p:nvSpPr>
        <p:spPr>
          <a:xfrm>
            <a:off x="9622762" y="2095518"/>
            <a:ext cx="8665238" cy="6676495"/>
          </a:xfrm>
          <a:custGeom>
            <a:avLst/>
            <a:gdLst/>
            <a:ahLst/>
            <a:cxnLst/>
            <a:rect l="l" t="t" r="r" b="b"/>
            <a:pathLst>
              <a:path w="8665238" h="6676495">
                <a:moveTo>
                  <a:pt x="0" y="0"/>
                </a:moveTo>
                <a:lnTo>
                  <a:pt x="8665238" y="0"/>
                </a:lnTo>
                <a:lnTo>
                  <a:pt x="8665238" y="6676495"/>
                </a:lnTo>
                <a:lnTo>
                  <a:pt x="0" y="6676495"/>
                </a:lnTo>
                <a:lnTo>
                  <a:pt x="0" y="0"/>
                </a:lnTo>
                <a:close/>
              </a:path>
            </a:pathLst>
          </a:custGeom>
          <a:blipFill>
            <a:blip r:embed="rId6"/>
            <a:stretch>
              <a:fillRect l="-1063" t="-564" r="-1424" b="-832"/>
            </a:stretch>
          </a:blipFill>
          <a:ln w="38100" cap="sq">
            <a:solidFill>
              <a:srgbClr val="000000"/>
            </a:solidFill>
            <a:prstDash val="solid"/>
            <a:miter/>
          </a:ln>
        </p:spPr>
      </p:sp>
      <p:sp>
        <p:nvSpPr>
          <p:cNvPr id="6" name="TextBox 6"/>
          <p:cNvSpPr txBox="1"/>
          <p:nvPr/>
        </p:nvSpPr>
        <p:spPr>
          <a:xfrm>
            <a:off x="1998029" y="554038"/>
            <a:ext cx="14852014" cy="854075"/>
          </a:xfrm>
          <a:prstGeom prst="rect">
            <a:avLst/>
          </a:prstGeom>
        </p:spPr>
        <p:txBody>
          <a:bodyPr lIns="0" tIns="0" rIns="0" bIns="0" rtlCol="0" anchor="t">
            <a:spAutoFit/>
          </a:bodyPr>
          <a:lstStyle/>
          <a:p>
            <a:pPr marL="1079501" lvl="1" indent="-539750" algn="l">
              <a:lnSpc>
                <a:spcPts val="7000"/>
              </a:lnSpc>
              <a:buAutoNum type="arabicPeriod"/>
            </a:pPr>
            <a:r>
              <a:rPr lang="en-US" sz="5000" b="1" dirty="0">
                <a:solidFill>
                  <a:srgbClr val="771F18"/>
                </a:solidFill>
                <a:latin typeface="Alexandria Bold"/>
                <a:ea typeface="Alexandria Bold"/>
                <a:cs typeface="Alexandria Bold"/>
                <a:sym typeface="Alexandria Bold"/>
              </a:rPr>
              <a:t>DATASET DESCRIPTION</a:t>
            </a:r>
          </a:p>
        </p:txBody>
      </p:sp>
      <p:sp>
        <p:nvSpPr>
          <p:cNvPr id="7" name="TextBox 7"/>
          <p:cNvSpPr txBox="1"/>
          <p:nvPr/>
        </p:nvSpPr>
        <p:spPr>
          <a:xfrm>
            <a:off x="589728" y="2066943"/>
            <a:ext cx="8834307" cy="1904367"/>
          </a:xfrm>
          <a:prstGeom prst="rect">
            <a:avLst/>
          </a:prstGeom>
        </p:spPr>
        <p:txBody>
          <a:bodyPr wrap="square" lIns="0" tIns="0" rIns="0" bIns="0" rtlCol="0" anchor="t">
            <a:spAutoFit/>
          </a:bodyPr>
          <a:lstStyle/>
          <a:p>
            <a:pPr algn="just">
              <a:lnSpc>
                <a:spcPts val="3779"/>
              </a:lnSpc>
              <a:spcBef>
                <a:spcPct val="0"/>
              </a:spcBef>
            </a:pPr>
            <a:r>
              <a:rPr lang="en-US" sz="2500" dirty="0">
                <a:solidFill>
                  <a:srgbClr val="545454"/>
                </a:solidFill>
                <a:latin typeface="Garet"/>
                <a:ea typeface="Garet"/>
                <a:cs typeface="Garet"/>
                <a:sym typeface="Garet"/>
              </a:rPr>
              <a:t>This dataset contains coffee sales data over 2 years in Saudi Arabia, covering purchases from 100 customers across 5 different coffee bean types.</a:t>
            </a:r>
          </a:p>
          <a:p>
            <a:pPr algn="just">
              <a:lnSpc>
                <a:spcPts val="3779"/>
              </a:lnSpc>
              <a:spcBef>
                <a:spcPct val="0"/>
              </a:spcBef>
            </a:pPr>
            <a:r>
              <a:rPr lang="nn-NO" sz="2000" dirty="0"/>
              <a:t>(</a:t>
            </a:r>
            <a:r>
              <a:rPr lang="nn-NO" sz="2000" dirty="0">
                <a:solidFill>
                  <a:schemeClr val="tx2">
                    <a:lumMod val="60000"/>
                    <a:lumOff val="40000"/>
                  </a:schemeClr>
                </a:solidFill>
              </a:rPr>
              <a:t>https://www.kaggle.com/datasets/halaturkialotaibi/coffee-bean-sales-dataset/data</a:t>
            </a:r>
            <a:r>
              <a:rPr lang="nn-NO" sz="2000" dirty="0"/>
              <a:t>)</a:t>
            </a:r>
            <a:endParaRPr lang="en-US" sz="2000" dirty="0">
              <a:solidFill>
                <a:srgbClr val="545454"/>
              </a:solidFill>
              <a:latin typeface="Garet"/>
              <a:ea typeface="Garet"/>
              <a:cs typeface="Garet"/>
              <a:sym typeface="Garet"/>
            </a:endParaRP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03</a:t>
            </a:r>
          </a:p>
        </p:txBody>
      </p:sp>
      <p:sp>
        <p:nvSpPr>
          <p:cNvPr id="9" name="TextBox 9"/>
          <p:cNvSpPr txBox="1"/>
          <p:nvPr/>
        </p:nvSpPr>
        <p:spPr>
          <a:xfrm>
            <a:off x="485641" y="4394410"/>
            <a:ext cx="8568558" cy="4847481"/>
          </a:xfrm>
          <a:prstGeom prst="rect">
            <a:avLst/>
          </a:prstGeom>
        </p:spPr>
        <p:txBody>
          <a:bodyPr lIns="0" tIns="0" rIns="0" bIns="0" rtlCol="0" anchor="t">
            <a:spAutoFit/>
          </a:bodyPr>
          <a:lstStyle/>
          <a:p>
            <a:pPr algn="just">
              <a:lnSpc>
                <a:spcPts val="3779"/>
              </a:lnSpc>
            </a:pPr>
            <a:r>
              <a:rPr lang="en-US" sz="2500" dirty="0">
                <a:solidFill>
                  <a:srgbClr val="545454"/>
                </a:solidFill>
                <a:latin typeface="Garet"/>
                <a:ea typeface="Garet"/>
                <a:cs typeface="Garet"/>
                <a:sym typeface="Garet"/>
              </a:rPr>
              <a:t>Some key points:</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Unit price remains quite consistent.</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Sales variation is primarily driven by order quantity and product mix.</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Peak sales values reflect bulk purchases and seasonal demand.</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Customer behavior suggests that discounts are more effective when targeted.</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There were high-value orders that did not use discount.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1257896" y="-2350427"/>
            <a:ext cx="4840370" cy="6758253"/>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Freeform 5"/>
          <p:cNvSpPr/>
          <p:nvPr/>
        </p:nvSpPr>
        <p:spPr>
          <a:xfrm>
            <a:off x="372793" y="5074761"/>
            <a:ext cx="7864809" cy="4389419"/>
          </a:xfrm>
          <a:custGeom>
            <a:avLst/>
            <a:gdLst/>
            <a:ahLst/>
            <a:cxnLst/>
            <a:rect l="l" t="t" r="r" b="b"/>
            <a:pathLst>
              <a:path w="8023108" h="4633345">
                <a:moveTo>
                  <a:pt x="0" y="0"/>
                </a:moveTo>
                <a:lnTo>
                  <a:pt x="8023107" y="0"/>
                </a:lnTo>
                <a:lnTo>
                  <a:pt x="8023107" y="4633345"/>
                </a:lnTo>
                <a:lnTo>
                  <a:pt x="0" y="4633345"/>
                </a:lnTo>
                <a:lnTo>
                  <a:pt x="0" y="0"/>
                </a:lnTo>
                <a:close/>
              </a:path>
            </a:pathLst>
          </a:custGeom>
          <a:blipFill>
            <a:blip r:embed="rId6"/>
            <a:stretch>
              <a:fillRect/>
            </a:stretch>
          </a:blipFill>
        </p:spPr>
      </p:sp>
      <p:sp>
        <p:nvSpPr>
          <p:cNvPr id="6" name="Freeform 6"/>
          <p:cNvSpPr/>
          <p:nvPr/>
        </p:nvSpPr>
        <p:spPr>
          <a:xfrm>
            <a:off x="7086601" y="1000637"/>
            <a:ext cx="11049000" cy="3899105"/>
          </a:xfrm>
          <a:custGeom>
            <a:avLst/>
            <a:gdLst/>
            <a:ahLst/>
            <a:cxnLst/>
            <a:rect l="l" t="t" r="r" b="b"/>
            <a:pathLst>
              <a:path w="11491335" h="3978875">
                <a:moveTo>
                  <a:pt x="0" y="0"/>
                </a:moveTo>
                <a:lnTo>
                  <a:pt x="11491335" y="0"/>
                </a:lnTo>
                <a:lnTo>
                  <a:pt x="11491335" y="3978874"/>
                </a:lnTo>
                <a:lnTo>
                  <a:pt x="0" y="3978874"/>
                </a:lnTo>
                <a:lnTo>
                  <a:pt x="0" y="0"/>
                </a:lnTo>
                <a:close/>
              </a:path>
            </a:pathLst>
          </a:custGeom>
          <a:blipFill>
            <a:blip r:embed="rId7"/>
            <a:stretch>
              <a:fillRect/>
            </a:stretch>
          </a:blipFill>
        </p:spPr>
      </p:sp>
      <p:sp>
        <p:nvSpPr>
          <p:cNvPr id="7" name="TextBox 7"/>
          <p:cNvSpPr txBox="1"/>
          <p:nvPr/>
        </p:nvSpPr>
        <p:spPr>
          <a:xfrm>
            <a:off x="3912883" y="53200"/>
            <a:ext cx="9205169" cy="854075"/>
          </a:xfrm>
          <a:prstGeom prst="rect">
            <a:avLst/>
          </a:prstGeom>
        </p:spPr>
        <p:txBody>
          <a:bodyPr lIns="0" tIns="0" rIns="0" bIns="0" rtlCol="0" anchor="t">
            <a:spAutoFit/>
          </a:bodyPr>
          <a:lstStyle/>
          <a:p>
            <a:pPr marL="1079501" lvl="1" indent="-539750" algn="ctr">
              <a:lnSpc>
                <a:spcPts val="7000"/>
              </a:lnSpc>
              <a:buAutoNum type="arabicPeriod"/>
            </a:pPr>
            <a:r>
              <a:rPr lang="en-US" sz="5000" b="1">
                <a:solidFill>
                  <a:srgbClr val="771F18"/>
                </a:solidFill>
                <a:latin typeface="Alexandria Bold"/>
                <a:ea typeface="Alexandria Bold"/>
                <a:cs typeface="Alexandria Bold"/>
                <a:sym typeface="Alexandria Bold"/>
              </a:rPr>
              <a:t>SALES TREND ANALYSIS</a:t>
            </a: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04</a:t>
            </a:r>
          </a:p>
        </p:txBody>
      </p:sp>
      <p:sp>
        <p:nvSpPr>
          <p:cNvPr id="9" name="TextBox 9"/>
          <p:cNvSpPr txBox="1"/>
          <p:nvPr/>
        </p:nvSpPr>
        <p:spPr>
          <a:xfrm>
            <a:off x="457200" y="1541903"/>
            <a:ext cx="6421803" cy="2898229"/>
          </a:xfrm>
          <a:prstGeom prst="rect">
            <a:avLst/>
          </a:prstGeom>
        </p:spPr>
        <p:txBody>
          <a:bodyPr wrap="square" lIns="0" tIns="0" rIns="0" bIns="0" rtlCol="0" anchor="t">
            <a:spAutoFit/>
          </a:bodyPr>
          <a:lstStyle/>
          <a:p>
            <a:pPr algn="just">
              <a:lnSpc>
                <a:spcPts val="3779"/>
              </a:lnSpc>
            </a:pPr>
            <a:r>
              <a:rPr lang="en-US" sz="2500" b="1" dirty="0">
                <a:solidFill>
                  <a:srgbClr val="545454"/>
                </a:solidFill>
                <a:latin typeface="Garet"/>
                <a:ea typeface="Garet"/>
                <a:cs typeface="Garet"/>
                <a:sym typeface="Garet"/>
              </a:rPr>
              <a:t>Key Insights</a:t>
            </a:r>
            <a:r>
              <a:rPr lang="en-US" sz="2500" dirty="0">
                <a:solidFill>
                  <a:srgbClr val="545454"/>
                </a:solidFill>
                <a:latin typeface="Garet"/>
                <a:ea typeface="Garet"/>
                <a:cs typeface="Garet"/>
                <a:sym typeface="Garet"/>
              </a:rPr>
              <a:t>:</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Sales exhibit strong month-to-month volatility across all SKUs.</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No single SKU consistently dominates sales, depicting a diverse sales portfolio.</a:t>
            </a:r>
          </a:p>
        </p:txBody>
      </p:sp>
      <p:sp>
        <p:nvSpPr>
          <p:cNvPr id="10" name="TextBox 10"/>
          <p:cNvSpPr txBox="1"/>
          <p:nvPr/>
        </p:nvSpPr>
        <p:spPr>
          <a:xfrm>
            <a:off x="8237602" y="5027136"/>
            <a:ext cx="9021698" cy="4360168"/>
          </a:xfrm>
          <a:prstGeom prst="rect">
            <a:avLst/>
          </a:prstGeom>
        </p:spPr>
        <p:txBody>
          <a:bodyPr lIns="0" tIns="0" rIns="0" bIns="0" rtlCol="0" anchor="t">
            <a:spAutoFit/>
          </a:bodyPr>
          <a:lstStyle/>
          <a:p>
            <a:pPr marL="582930" lvl="1" indent="-291465" algn="just">
              <a:lnSpc>
                <a:spcPts val="3779"/>
              </a:lnSpc>
              <a:buFont typeface="Arial"/>
              <a:buChar char="•"/>
            </a:pPr>
            <a:r>
              <a:rPr lang="en-US" sz="2500" dirty="0">
                <a:solidFill>
                  <a:srgbClr val="545454"/>
                </a:solidFill>
                <a:latin typeface="Garet"/>
                <a:ea typeface="Garet"/>
                <a:cs typeface="Garet"/>
                <a:sym typeface="Garet"/>
              </a:rPr>
              <a:t>Multiple SKUs show higher sales between March–July, but not in the same months.</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The darker regions in heatmap show the surge in demand for each SKU.</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The rotating peaks of the varieties indicate continuous but highly volatile demand throughout the year.</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The volatility of demand makes using forecasting techniques difficult.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Freeform 5"/>
          <p:cNvSpPr/>
          <p:nvPr/>
        </p:nvSpPr>
        <p:spPr>
          <a:xfrm>
            <a:off x="8656458" y="1358483"/>
            <a:ext cx="9290263" cy="5016742"/>
          </a:xfrm>
          <a:custGeom>
            <a:avLst/>
            <a:gdLst/>
            <a:ahLst/>
            <a:cxnLst/>
            <a:rect l="l" t="t" r="r" b="b"/>
            <a:pathLst>
              <a:path w="9290263" h="5016742">
                <a:moveTo>
                  <a:pt x="0" y="0"/>
                </a:moveTo>
                <a:lnTo>
                  <a:pt x="9290263" y="0"/>
                </a:lnTo>
                <a:lnTo>
                  <a:pt x="9290263" y="5016742"/>
                </a:lnTo>
                <a:lnTo>
                  <a:pt x="0" y="5016742"/>
                </a:lnTo>
                <a:lnTo>
                  <a:pt x="0" y="0"/>
                </a:lnTo>
                <a:close/>
              </a:path>
            </a:pathLst>
          </a:custGeom>
          <a:blipFill>
            <a:blip r:embed="rId6"/>
            <a:stretch>
              <a:fillRect/>
            </a:stretch>
          </a:blipFill>
        </p:spPr>
      </p:sp>
      <p:sp>
        <p:nvSpPr>
          <p:cNvPr id="6" name="Freeform 6"/>
          <p:cNvSpPr/>
          <p:nvPr/>
        </p:nvSpPr>
        <p:spPr>
          <a:xfrm>
            <a:off x="676469" y="4693368"/>
            <a:ext cx="5028451" cy="4770812"/>
          </a:xfrm>
          <a:custGeom>
            <a:avLst/>
            <a:gdLst/>
            <a:ahLst/>
            <a:cxnLst/>
            <a:rect l="l" t="t" r="r" b="b"/>
            <a:pathLst>
              <a:path w="4524170" h="4475980">
                <a:moveTo>
                  <a:pt x="0" y="0"/>
                </a:moveTo>
                <a:lnTo>
                  <a:pt x="4524171" y="0"/>
                </a:lnTo>
                <a:lnTo>
                  <a:pt x="4524171" y="4475980"/>
                </a:lnTo>
                <a:lnTo>
                  <a:pt x="0" y="4475980"/>
                </a:lnTo>
                <a:lnTo>
                  <a:pt x="0" y="0"/>
                </a:lnTo>
                <a:close/>
              </a:path>
            </a:pathLst>
          </a:custGeom>
          <a:blipFill>
            <a:blip r:embed="rId7"/>
            <a:stretch>
              <a:fillRect l="-51700" t="-4537" r="-38624"/>
            </a:stretch>
          </a:blipFill>
        </p:spPr>
      </p:sp>
      <p:sp>
        <p:nvSpPr>
          <p:cNvPr id="7" name="TextBox 7"/>
          <p:cNvSpPr txBox="1"/>
          <p:nvPr/>
        </p:nvSpPr>
        <p:spPr>
          <a:xfrm>
            <a:off x="1137027" y="218658"/>
            <a:ext cx="16013946" cy="854075"/>
          </a:xfrm>
          <a:prstGeom prst="rect">
            <a:avLst/>
          </a:prstGeom>
        </p:spPr>
        <p:txBody>
          <a:bodyPr lIns="0" tIns="0" rIns="0" bIns="0" rtlCol="0" anchor="t">
            <a:spAutoFit/>
          </a:bodyPr>
          <a:lstStyle/>
          <a:p>
            <a:pPr marL="1079501" lvl="1" indent="-539750" algn="just">
              <a:lnSpc>
                <a:spcPts val="7000"/>
              </a:lnSpc>
              <a:buAutoNum type="arabicPeriod"/>
            </a:pPr>
            <a:r>
              <a:rPr lang="en-US" sz="5000" b="1" dirty="0">
                <a:solidFill>
                  <a:srgbClr val="771F18"/>
                </a:solidFill>
                <a:latin typeface="Alexandria Bold"/>
                <a:ea typeface="Alexandria Bold"/>
                <a:cs typeface="Alexandria Bold"/>
                <a:sym typeface="Alexandria Bold"/>
              </a:rPr>
              <a:t>DISCOUNT IMPACT ON CUSTOMER LOYALTY</a:t>
            </a: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05</a:t>
            </a:r>
          </a:p>
        </p:txBody>
      </p:sp>
      <p:sp>
        <p:nvSpPr>
          <p:cNvPr id="9" name="TextBox 9"/>
          <p:cNvSpPr txBox="1"/>
          <p:nvPr/>
        </p:nvSpPr>
        <p:spPr>
          <a:xfrm>
            <a:off x="2257576" y="5685122"/>
            <a:ext cx="2085823" cy="759182"/>
          </a:xfrm>
          <a:prstGeom prst="rect">
            <a:avLst/>
          </a:prstGeom>
        </p:spPr>
        <p:txBody>
          <a:bodyPr wrap="square" lIns="0" tIns="0" rIns="0" bIns="0" rtlCol="0" anchor="t">
            <a:spAutoFit/>
          </a:bodyPr>
          <a:lstStyle/>
          <a:p>
            <a:pPr algn="just">
              <a:lnSpc>
                <a:spcPts val="1960"/>
              </a:lnSpc>
              <a:spcBef>
                <a:spcPct val="0"/>
              </a:spcBef>
            </a:pPr>
            <a:r>
              <a:rPr lang="en-US" sz="1400" b="1" dirty="0">
                <a:solidFill>
                  <a:srgbClr val="FFDE59"/>
                </a:solidFill>
                <a:latin typeface="Garet Bold"/>
                <a:ea typeface="Garet Bold"/>
                <a:cs typeface="Garet Bold"/>
                <a:sym typeface="Garet Bold"/>
              </a:rPr>
              <a:t>REPEAT CUSTOMERS THAT USED DISCOUNT AT LEAST ONCE</a:t>
            </a:r>
          </a:p>
        </p:txBody>
      </p:sp>
      <p:sp>
        <p:nvSpPr>
          <p:cNvPr id="10" name="TextBox 10"/>
          <p:cNvSpPr txBox="1"/>
          <p:nvPr/>
        </p:nvSpPr>
        <p:spPr>
          <a:xfrm>
            <a:off x="457200" y="1476526"/>
            <a:ext cx="7870618" cy="2898229"/>
          </a:xfrm>
          <a:prstGeom prst="rect">
            <a:avLst/>
          </a:prstGeom>
        </p:spPr>
        <p:txBody>
          <a:bodyPr lIns="0" tIns="0" rIns="0" bIns="0" rtlCol="0" anchor="t">
            <a:spAutoFit/>
          </a:bodyPr>
          <a:lstStyle/>
          <a:p>
            <a:pPr marL="582930" lvl="1" indent="-291465" algn="just">
              <a:lnSpc>
                <a:spcPts val="3779"/>
              </a:lnSpc>
              <a:buFont typeface="Arial"/>
              <a:buChar char="•"/>
            </a:pPr>
            <a:r>
              <a:rPr lang="en-US" sz="2500" dirty="0">
                <a:solidFill>
                  <a:srgbClr val="545454"/>
                </a:solidFill>
                <a:latin typeface="Garet"/>
                <a:ea typeface="Garet"/>
                <a:cs typeface="Garet"/>
                <a:sym typeface="Garet"/>
              </a:rPr>
              <a:t>97% of all the customers having used discount at least once shows clear development of customer interest through promotions.</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Early repeat customers (less than 5 orders) are the most discount-dependent.</a:t>
            </a:r>
          </a:p>
        </p:txBody>
      </p:sp>
      <p:sp>
        <p:nvSpPr>
          <p:cNvPr id="11" name="TextBox 11"/>
          <p:cNvSpPr txBox="1"/>
          <p:nvPr/>
        </p:nvSpPr>
        <p:spPr>
          <a:xfrm>
            <a:off x="5704921" y="6610233"/>
            <a:ext cx="11998320" cy="2410916"/>
          </a:xfrm>
          <a:prstGeom prst="rect">
            <a:avLst/>
          </a:prstGeom>
        </p:spPr>
        <p:txBody>
          <a:bodyPr lIns="0" tIns="0" rIns="0" bIns="0" rtlCol="0" anchor="t">
            <a:spAutoFit/>
          </a:bodyPr>
          <a:lstStyle/>
          <a:p>
            <a:pPr marL="582930" lvl="1" indent="-291465" algn="just">
              <a:lnSpc>
                <a:spcPts val="3779"/>
              </a:lnSpc>
              <a:buFont typeface="Arial"/>
              <a:buChar char="•"/>
            </a:pPr>
            <a:r>
              <a:rPr lang="en-US" sz="2500" dirty="0">
                <a:solidFill>
                  <a:srgbClr val="545454"/>
                </a:solidFill>
                <a:latin typeface="Garet"/>
                <a:ea typeface="Garet"/>
                <a:cs typeface="Garet"/>
                <a:sym typeface="Garet"/>
              </a:rPr>
              <a:t>Discount reliance decreases as repeat count increases.</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Customers with very high repeat counts still place a substantial share of non-discounted orders.</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Discounts appear effective for onboarding and early retention but are not required to sustain long-term customer loyalty.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Freeform 5"/>
          <p:cNvSpPr/>
          <p:nvPr/>
        </p:nvSpPr>
        <p:spPr>
          <a:xfrm>
            <a:off x="9715536" y="1028700"/>
            <a:ext cx="7936448" cy="4692425"/>
          </a:xfrm>
          <a:custGeom>
            <a:avLst/>
            <a:gdLst/>
            <a:ahLst/>
            <a:cxnLst/>
            <a:rect l="l" t="t" r="r" b="b"/>
            <a:pathLst>
              <a:path w="7936448" h="4692425">
                <a:moveTo>
                  <a:pt x="0" y="0"/>
                </a:moveTo>
                <a:lnTo>
                  <a:pt x="7936448" y="0"/>
                </a:lnTo>
                <a:lnTo>
                  <a:pt x="7936448" y="4692425"/>
                </a:lnTo>
                <a:lnTo>
                  <a:pt x="0" y="4692425"/>
                </a:lnTo>
                <a:lnTo>
                  <a:pt x="0" y="0"/>
                </a:lnTo>
                <a:close/>
              </a:path>
            </a:pathLst>
          </a:custGeom>
          <a:blipFill>
            <a:blip r:embed="rId6"/>
            <a:stretch>
              <a:fillRect/>
            </a:stretch>
          </a:blipFill>
        </p:spPr>
      </p:sp>
      <p:sp>
        <p:nvSpPr>
          <p:cNvPr id="6" name="Freeform 6"/>
          <p:cNvSpPr/>
          <p:nvPr/>
        </p:nvSpPr>
        <p:spPr>
          <a:xfrm>
            <a:off x="609421" y="5143500"/>
            <a:ext cx="8893201" cy="4213154"/>
          </a:xfrm>
          <a:custGeom>
            <a:avLst/>
            <a:gdLst/>
            <a:ahLst/>
            <a:cxnLst/>
            <a:rect l="l" t="t" r="r" b="b"/>
            <a:pathLst>
              <a:path w="8893201" h="4213154">
                <a:moveTo>
                  <a:pt x="0" y="0"/>
                </a:moveTo>
                <a:lnTo>
                  <a:pt x="8893201" y="0"/>
                </a:lnTo>
                <a:lnTo>
                  <a:pt x="8893201" y="4213154"/>
                </a:lnTo>
                <a:lnTo>
                  <a:pt x="0" y="4213154"/>
                </a:lnTo>
                <a:lnTo>
                  <a:pt x="0" y="0"/>
                </a:lnTo>
                <a:close/>
              </a:path>
            </a:pathLst>
          </a:custGeom>
          <a:blipFill>
            <a:blip r:embed="rId7"/>
            <a:stretch>
              <a:fillRect/>
            </a:stretch>
          </a:blipFill>
        </p:spPr>
      </p:sp>
      <p:sp>
        <p:nvSpPr>
          <p:cNvPr id="7" name="TextBox 7"/>
          <p:cNvSpPr txBox="1"/>
          <p:nvPr/>
        </p:nvSpPr>
        <p:spPr>
          <a:xfrm>
            <a:off x="4541415" y="98425"/>
            <a:ext cx="9205169" cy="854075"/>
          </a:xfrm>
          <a:prstGeom prst="rect">
            <a:avLst/>
          </a:prstGeom>
        </p:spPr>
        <p:txBody>
          <a:bodyPr lIns="0" tIns="0" rIns="0" bIns="0" rtlCol="0" anchor="t">
            <a:spAutoFit/>
          </a:bodyPr>
          <a:lstStyle/>
          <a:p>
            <a:pPr marL="1079501" lvl="1" indent="-539750" algn="ctr">
              <a:lnSpc>
                <a:spcPts val="7000"/>
              </a:lnSpc>
              <a:buAutoNum type="arabicPeriod"/>
            </a:pPr>
            <a:r>
              <a:rPr lang="en-US" sz="5000" b="1">
                <a:solidFill>
                  <a:srgbClr val="771F18"/>
                </a:solidFill>
                <a:latin typeface="Alexandria Bold"/>
                <a:ea typeface="Alexandria Bold"/>
                <a:cs typeface="Alexandria Bold"/>
                <a:sym typeface="Alexandria Bold"/>
              </a:rPr>
              <a:t>CITY LEVEL ANALYSIS</a:t>
            </a:r>
          </a:p>
        </p:txBody>
      </p:sp>
      <p:sp>
        <p:nvSpPr>
          <p:cNvPr id="8" name="TextBox 8"/>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06</a:t>
            </a:r>
          </a:p>
        </p:txBody>
      </p:sp>
      <p:sp>
        <p:nvSpPr>
          <p:cNvPr id="9" name="TextBox 9"/>
          <p:cNvSpPr txBox="1"/>
          <p:nvPr/>
        </p:nvSpPr>
        <p:spPr>
          <a:xfrm>
            <a:off x="685992" y="1193211"/>
            <a:ext cx="7710845" cy="605935"/>
          </a:xfrm>
          <a:prstGeom prst="rect">
            <a:avLst/>
          </a:prstGeom>
        </p:spPr>
        <p:txBody>
          <a:bodyPr wrap="square" lIns="0" tIns="0" rIns="0" bIns="0" rtlCol="0" anchor="t">
            <a:spAutoFit/>
          </a:bodyPr>
          <a:lstStyle/>
          <a:p>
            <a:pPr algn="ctr">
              <a:lnSpc>
                <a:spcPts val="4900"/>
              </a:lnSpc>
              <a:spcBef>
                <a:spcPct val="0"/>
              </a:spcBef>
            </a:pPr>
            <a:r>
              <a:rPr lang="en-US" sz="3500" dirty="0">
                <a:solidFill>
                  <a:srgbClr val="771F18"/>
                </a:solidFill>
                <a:latin typeface="Garet"/>
                <a:ea typeface="Garet"/>
                <a:cs typeface="Garet"/>
                <a:sym typeface="Garet"/>
              </a:rPr>
              <a:t>7.1. IMPACT OF DISCOUNT ON AOV</a:t>
            </a:r>
          </a:p>
        </p:txBody>
      </p:sp>
      <p:sp>
        <p:nvSpPr>
          <p:cNvPr id="10" name="TextBox 10"/>
          <p:cNvSpPr txBox="1"/>
          <p:nvPr/>
        </p:nvSpPr>
        <p:spPr>
          <a:xfrm>
            <a:off x="447848" y="2090232"/>
            <a:ext cx="8893201" cy="2898229"/>
          </a:xfrm>
          <a:prstGeom prst="rect">
            <a:avLst/>
          </a:prstGeom>
        </p:spPr>
        <p:txBody>
          <a:bodyPr wrap="square" lIns="0" tIns="0" rIns="0" bIns="0" rtlCol="0" anchor="t">
            <a:spAutoFit/>
          </a:bodyPr>
          <a:lstStyle/>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High AOV does not imply high discount dependence, Jeddah and Medina have the highest AOVs, yet they show lower discount usage rates.</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Discount-heavy cities do not achieve the highest order values, Buraidah has the highest discount usage rate, but its AOV is not among the top.</a:t>
            </a:r>
          </a:p>
        </p:txBody>
      </p:sp>
      <p:sp>
        <p:nvSpPr>
          <p:cNvPr id="11" name="TextBox 11"/>
          <p:cNvSpPr txBox="1"/>
          <p:nvPr/>
        </p:nvSpPr>
        <p:spPr>
          <a:xfrm>
            <a:off x="9299988" y="5798305"/>
            <a:ext cx="8486414" cy="3385542"/>
          </a:xfrm>
          <a:prstGeom prst="rect">
            <a:avLst/>
          </a:prstGeom>
        </p:spPr>
        <p:txBody>
          <a:bodyPr wrap="square" lIns="0" tIns="0" rIns="0" bIns="0" rtlCol="0" anchor="t">
            <a:spAutoFit/>
          </a:bodyPr>
          <a:lstStyle/>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Cities with lower AOVs (e.g., Abha, Buraidah) show higher discount usage, indicating greater sensitivity to promotions.</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Cities like Riyadh, Khobar, and Dammam display moderate AOV and moderate discount usage they likely respond to selective or targeted discounts rather than aggressive pricing.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641730" y="1588332"/>
            <a:ext cx="9759323" cy="2898229"/>
          </a:xfrm>
          <a:prstGeom prst="rect">
            <a:avLst/>
          </a:prstGeom>
        </p:spPr>
        <p:txBody>
          <a:bodyPr wrap="square" lIns="0" tIns="0" rIns="0" bIns="0" rtlCol="0" anchor="t">
            <a:spAutoFit/>
          </a:bodyPr>
          <a:lstStyle/>
          <a:p>
            <a:pPr marL="582930" lvl="1" indent="-291465" algn="just">
              <a:lnSpc>
                <a:spcPts val="3779"/>
              </a:lnSpc>
              <a:buFont typeface="Arial"/>
              <a:buChar char="•"/>
            </a:pPr>
            <a:r>
              <a:rPr lang="en-US" sz="2500" dirty="0">
                <a:solidFill>
                  <a:srgbClr val="545454"/>
                </a:solidFill>
                <a:latin typeface="Garet"/>
                <a:ea typeface="Garet"/>
                <a:cs typeface="Garet"/>
                <a:sym typeface="Garet"/>
              </a:rPr>
              <a:t>Revenue is moderately concentrated, not dominated by a single city, indicating a fairly distributed revenue base.</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Cities like Medina, Khobar, Dammam, and Buraidah each contribute around 9–10%, suggesting stable but competitive regional performance.</a:t>
            </a: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AutoShape 5"/>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6" name="Freeform 6"/>
          <p:cNvSpPr/>
          <p:nvPr/>
        </p:nvSpPr>
        <p:spPr>
          <a:xfrm>
            <a:off x="10726239" y="763588"/>
            <a:ext cx="6533061" cy="5606731"/>
          </a:xfrm>
          <a:custGeom>
            <a:avLst/>
            <a:gdLst/>
            <a:ahLst/>
            <a:cxnLst/>
            <a:rect l="l" t="t" r="r" b="b"/>
            <a:pathLst>
              <a:path w="6533061" h="5606731">
                <a:moveTo>
                  <a:pt x="0" y="0"/>
                </a:moveTo>
                <a:lnTo>
                  <a:pt x="6533061" y="0"/>
                </a:lnTo>
                <a:lnTo>
                  <a:pt x="6533061" y="5606731"/>
                </a:lnTo>
                <a:lnTo>
                  <a:pt x="0" y="5606731"/>
                </a:lnTo>
                <a:lnTo>
                  <a:pt x="0" y="0"/>
                </a:lnTo>
                <a:close/>
              </a:path>
            </a:pathLst>
          </a:custGeom>
          <a:blipFill>
            <a:blip r:embed="rId6"/>
            <a:stretch>
              <a:fillRect l="-5359" t="-2900" r="-7892" b="-1158"/>
            </a:stretch>
          </a:blipFill>
        </p:spPr>
      </p:sp>
      <p:sp>
        <p:nvSpPr>
          <p:cNvPr id="7" name="Freeform 7"/>
          <p:cNvSpPr/>
          <p:nvPr/>
        </p:nvSpPr>
        <p:spPr>
          <a:xfrm>
            <a:off x="783825" y="4577849"/>
            <a:ext cx="4737566" cy="4886331"/>
          </a:xfrm>
          <a:custGeom>
            <a:avLst/>
            <a:gdLst/>
            <a:ahLst/>
            <a:cxnLst/>
            <a:rect l="l" t="t" r="r" b="b"/>
            <a:pathLst>
              <a:path w="4737566" h="4886331">
                <a:moveTo>
                  <a:pt x="0" y="0"/>
                </a:moveTo>
                <a:lnTo>
                  <a:pt x="4737566" y="0"/>
                </a:lnTo>
                <a:lnTo>
                  <a:pt x="4737566" y="4886331"/>
                </a:lnTo>
                <a:lnTo>
                  <a:pt x="0" y="4886331"/>
                </a:lnTo>
                <a:lnTo>
                  <a:pt x="0" y="0"/>
                </a:lnTo>
                <a:close/>
              </a:path>
            </a:pathLst>
          </a:custGeom>
          <a:blipFill>
            <a:blip r:embed="rId7"/>
            <a:stretch>
              <a:fillRect r="-4098"/>
            </a:stretch>
          </a:blipFill>
        </p:spPr>
      </p:sp>
      <p:sp>
        <p:nvSpPr>
          <p:cNvPr id="8" name="TextBox 8"/>
          <p:cNvSpPr txBox="1"/>
          <p:nvPr/>
        </p:nvSpPr>
        <p:spPr>
          <a:xfrm>
            <a:off x="1028700" y="687388"/>
            <a:ext cx="9205169" cy="606425"/>
          </a:xfrm>
          <a:prstGeom prst="rect">
            <a:avLst/>
          </a:prstGeom>
        </p:spPr>
        <p:txBody>
          <a:bodyPr lIns="0" tIns="0" rIns="0" bIns="0" rtlCol="0" anchor="t">
            <a:spAutoFit/>
          </a:bodyPr>
          <a:lstStyle/>
          <a:p>
            <a:pPr algn="just">
              <a:lnSpc>
                <a:spcPts val="4900"/>
              </a:lnSpc>
            </a:pPr>
            <a:r>
              <a:rPr lang="en-US" sz="3500">
                <a:solidFill>
                  <a:srgbClr val="7F3711"/>
                </a:solidFill>
                <a:latin typeface="Alexandria"/>
                <a:ea typeface="Alexandria"/>
                <a:cs typeface="Alexandria"/>
                <a:sym typeface="Alexandria"/>
              </a:rPr>
              <a:t>7.2.  REVENUE SHARE ANALYSIS</a:t>
            </a:r>
          </a:p>
        </p:txBody>
      </p:sp>
      <p:sp>
        <p:nvSpPr>
          <p:cNvPr id="9" name="TextBox 9"/>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07</a:t>
            </a:r>
          </a:p>
        </p:txBody>
      </p:sp>
      <p:sp>
        <p:nvSpPr>
          <p:cNvPr id="10" name="TextBox 10"/>
          <p:cNvSpPr txBox="1"/>
          <p:nvPr/>
        </p:nvSpPr>
        <p:spPr>
          <a:xfrm>
            <a:off x="5310410" y="6605339"/>
            <a:ext cx="11284718" cy="2905924"/>
          </a:xfrm>
          <a:prstGeom prst="rect">
            <a:avLst/>
          </a:prstGeom>
        </p:spPr>
        <p:txBody>
          <a:bodyPr lIns="0" tIns="0" rIns="0" bIns="0" rtlCol="0" anchor="t">
            <a:spAutoFit/>
          </a:bodyPr>
          <a:lstStyle/>
          <a:p>
            <a:pPr marL="582930" lvl="1" indent="-291465" algn="just">
              <a:lnSpc>
                <a:spcPts val="3779"/>
              </a:lnSpc>
              <a:buFont typeface="Arial"/>
              <a:buChar char="•"/>
            </a:pPr>
            <a:r>
              <a:rPr lang="en-US" sz="2500" dirty="0">
                <a:solidFill>
                  <a:srgbClr val="545454"/>
                </a:solidFill>
                <a:latin typeface="Garet"/>
                <a:ea typeface="Garet"/>
                <a:cs typeface="Garet"/>
                <a:sym typeface="Garet"/>
              </a:rPr>
              <a:t>Hail, Jeddah, Riyadh, and Mecca together account for over 45% of total sales.</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Lower-tier cities like Abha and Tabuk still contribute meaningfully and justify continued market presence.</a:t>
            </a:r>
          </a:p>
          <a:p>
            <a:pPr marL="582930" lvl="1" indent="-291465" algn="just">
              <a:lnSpc>
                <a:spcPts val="3779"/>
              </a:lnSpc>
              <a:spcBef>
                <a:spcPct val="0"/>
              </a:spcBef>
              <a:buFont typeface="Arial"/>
              <a:buChar char="•"/>
            </a:pPr>
            <a:r>
              <a:rPr lang="en-US" sz="2500" dirty="0">
                <a:solidFill>
                  <a:srgbClr val="545454"/>
                </a:solidFill>
                <a:latin typeface="Garet"/>
                <a:ea typeface="Garet"/>
                <a:cs typeface="Garet"/>
                <a:sym typeface="Garet"/>
              </a:rPr>
              <a:t>Revenue distribution supports a diversified market strategy</a:t>
            </a:r>
          </a:p>
          <a:p>
            <a:pPr algn="just">
              <a:lnSpc>
                <a:spcPts val="3779"/>
              </a:lnSpc>
              <a:spcBef>
                <a:spcPct val="0"/>
              </a:spcBef>
            </a:pPr>
            <a:endParaRPr lang="en-US" sz="2500" dirty="0">
              <a:solidFill>
                <a:srgbClr val="545454"/>
              </a:solidFill>
              <a:latin typeface="Garet"/>
              <a:ea typeface="Garet"/>
              <a:cs typeface="Garet"/>
              <a:sym typeface="Gare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828899" y="1476840"/>
            <a:ext cx="7766312" cy="3872855"/>
          </a:xfrm>
          <a:prstGeom prst="rect">
            <a:avLst/>
          </a:prstGeom>
        </p:spPr>
        <p:txBody>
          <a:bodyPr lIns="0" tIns="0" rIns="0" bIns="0" rtlCol="0" anchor="t">
            <a:spAutoFit/>
          </a:bodyPr>
          <a:lstStyle/>
          <a:p>
            <a:pPr marL="291465" lvl="1" algn="just">
              <a:lnSpc>
                <a:spcPts val="3779"/>
              </a:lnSpc>
            </a:pPr>
            <a:r>
              <a:rPr lang="en-US" sz="2500" b="1" dirty="0">
                <a:solidFill>
                  <a:srgbClr val="545454"/>
                </a:solidFill>
                <a:latin typeface="Garet"/>
                <a:ea typeface="Garet"/>
                <a:cs typeface="Garet"/>
                <a:sym typeface="Garet"/>
              </a:rPr>
              <a:t>Inventory Strategy</a:t>
            </a:r>
            <a:r>
              <a:rPr lang="en-US" sz="2500" dirty="0">
                <a:solidFill>
                  <a:srgbClr val="545454"/>
                </a:solidFill>
                <a:latin typeface="Garet"/>
                <a:ea typeface="Garet"/>
                <a:cs typeface="Garet"/>
                <a:sym typeface="Garet"/>
              </a:rPr>
              <a:t>: </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A 4–6 week rolling forecast window, can be implemented for an estimate of demand.</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Trigger replenishment when sales exceed the rolling average by &gt;20%, or stock falls below 1.5× the recent weekly sales.</a:t>
            </a:r>
          </a:p>
          <a:p>
            <a:pPr marL="582930" lvl="1" indent="-291465" algn="just">
              <a:lnSpc>
                <a:spcPts val="3779"/>
              </a:lnSpc>
              <a:buFont typeface="Arial"/>
              <a:buChar char="•"/>
            </a:pPr>
            <a:r>
              <a:rPr lang="en-US" sz="2500" dirty="0">
                <a:solidFill>
                  <a:srgbClr val="545454"/>
                </a:solidFill>
                <a:latin typeface="Garet"/>
                <a:ea typeface="Garet"/>
                <a:cs typeface="Garet"/>
                <a:sym typeface="Garet"/>
              </a:rPr>
              <a:t>Keeping a safety stock to avoid risk of stock out:</a:t>
            </a: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AutoShape 5"/>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6" name="Freeform 6"/>
          <p:cNvSpPr/>
          <p:nvPr/>
        </p:nvSpPr>
        <p:spPr>
          <a:xfrm>
            <a:off x="1854851" y="5644184"/>
            <a:ext cx="5636597" cy="704575"/>
          </a:xfrm>
          <a:custGeom>
            <a:avLst/>
            <a:gdLst/>
            <a:ahLst/>
            <a:cxnLst/>
            <a:rect l="l" t="t" r="r" b="b"/>
            <a:pathLst>
              <a:path w="5636597" h="704575">
                <a:moveTo>
                  <a:pt x="0" y="0"/>
                </a:moveTo>
                <a:lnTo>
                  <a:pt x="5636597" y="0"/>
                </a:lnTo>
                <a:lnTo>
                  <a:pt x="5636597" y="704575"/>
                </a:lnTo>
                <a:lnTo>
                  <a:pt x="0" y="704575"/>
                </a:lnTo>
                <a:lnTo>
                  <a:pt x="0" y="0"/>
                </a:lnTo>
                <a:close/>
              </a:path>
            </a:pathLst>
          </a:custGeom>
          <a:blipFill>
            <a:blip r:embed="rId6"/>
            <a:stretch>
              <a:fillRect/>
            </a:stretch>
          </a:blipFill>
        </p:spPr>
      </p:sp>
      <p:sp>
        <p:nvSpPr>
          <p:cNvPr id="7" name="TextBox 7"/>
          <p:cNvSpPr txBox="1"/>
          <p:nvPr/>
        </p:nvSpPr>
        <p:spPr>
          <a:xfrm>
            <a:off x="4988608" y="174625"/>
            <a:ext cx="8310785" cy="854075"/>
          </a:xfrm>
          <a:prstGeom prst="rect">
            <a:avLst/>
          </a:prstGeom>
        </p:spPr>
        <p:txBody>
          <a:bodyPr lIns="0" tIns="0" rIns="0" bIns="0" rtlCol="0" anchor="t">
            <a:spAutoFit/>
          </a:bodyPr>
          <a:lstStyle/>
          <a:p>
            <a:pPr marL="1079501" lvl="1" indent="-539750" algn="just">
              <a:lnSpc>
                <a:spcPts val="7000"/>
              </a:lnSpc>
              <a:buAutoNum type="arabicPeriod"/>
            </a:pPr>
            <a:r>
              <a:rPr lang="en-US" sz="5000" b="1">
                <a:solidFill>
                  <a:srgbClr val="7F3711"/>
                </a:solidFill>
                <a:latin typeface="Alexandria Bold"/>
                <a:ea typeface="Alexandria Bold"/>
                <a:cs typeface="Alexandria Bold"/>
                <a:sym typeface="Alexandria Bold"/>
              </a:rPr>
              <a:t>RECOMMENDATIONS</a:t>
            </a:r>
          </a:p>
        </p:txBody>
      </p:sp>
      <p:sp>
        <p:nvSpPr>
          <p:cNvPr id="8" name="TextBox 8"/>
          <p:cNvSpPr txBox="1"/>
          <p:nvPr/>
        </p:nvSpPr>
        <p:spPr>
          <a:xfrm>
            <a:off x="8873550" y="1476840"/>
            <a:ext cx="8385750" cy="7771358"/>
          </a:xfrm>
          <a:prstGeom prst="rect">
            <a:avLst/>
          </a:prstGeom>
        </p:spPr>
        <p:txBody>
          <a:bodyPr lIns="0" tIns="0" rIns="0" bIns="0" rtlCol="0" anchor="t">
            <a:spAutoFit/>
          </a:bodyPr>
          <a:lstStyle/>
          <a:p>
            <a:pPr marL="291465" lvl="1" algn="l">
              <a:lnSpc>
                <a:spcPts val="3779"/>
              </a:lnSpc>
            </a:pPr>
            <a:r>
              <a:rPr lang="en-US" sz="2500" b="1" dirty="0">
                <a:solidFill>
                  <a:srgbClr val="545454"/>
                </a:solidFill>
                <a:latin typeface="Garet"/>
                <a:ea typeface="Garet"/>
                <a:cs typeface="Garet"/>
                <a:sym typeface="Garet"/>
              </a:rPr>
              <a:t>Customer Strategy:</a:t>
            </a:r>
          </a:p>
          <a:p>
            <a:pPr marL="582930" lvl="1" indent="-291465" algn="l">
              <a:lnSpc>
                <a:spcPts val="3779"/>
              </a:lnSpc>
              <a:buFont typeface="Arial"/>
              <a:buChar char="•"/>
            </a:pPr>
            <a:r>
              <a:rPr lang="en-US" sz="2500" dirty="0">
                <a:solidFill>
                  <a:srgbClr val="545454"/>
                </a:solidFill>
                <a:latin typeface="Garet"/>
                <a:ea typeface="Garet"/>
                <a:cs typeface="Garet"/>
                <a:sym typeface="Garet"/>
              </a:rPr>
              <a:t>Segment customers by order count:</a:t>
            </a:r>
          </a:p>
          <a:p>
            <a:pPr algn="l">
              <a:lnSpc>
                <a:spcPts val="3779"/>
              </a:lnSpc>
            </a:pPr>
            <a:r>
              <a:rPr lang="en-US" sz="2500" dirty="0">
                <a:solidFill>
                  <a:srgbClr val="545454"/>
                </a:solidFill>
                <a:latin typeface="Garet"/>
                <a:ea typeface="Garet"/>
                <a:cs typeface="Garet"/>
                <a:sym typeface="Garet"/>
              </a:rPr>
              <a:t>       - Orders 1–2 → onboarding discounts (strong incentives)</a:t>
            </a:r>
          </a:p>
          <a:p>
            <a:pPr algn="l">
              <a:lnSpc>
                <a:spcPts val="3779"/>
              </a:lnSpc>
            </a:pPr>
            <a:r>
              <a:rPr lang="en-US" sz="2500" dirty="0">
                <a:solidFill>
                  <a:srgbClr val="545454"/>
                </a:solidFill>
                <a:latin typeface="Garet"/>
                <a:ea typeface="Garet"/>
                <a:cs typeface="Garet"/>
                <a:sym typeface="Garet"/>
              </a:rPr>
              <a:t>        - Orders 3–5 → lighter, conditional discounts</a:t>
            </a:r>
          </a:p>
          <a:p>
            <a:pPr algn="l">
              <a:lnSpc>
                <a:spcPts val="3779"/>
              </a:lnSpc>
            </a:pPr>
            <a:r>
              <a:rPr lang="en-US" sz="2500" dirty="0">
                <a:solidFill>
                  <a:srgbClr val="545454"/>
                </a:solidFill>
                <a:latin typeface="Garet"/>
                <a:ea typeface="Garet"/>
                <a:cs typeface="Garet"/>
                <a:sym typeface="Garet"/>
              </a:rPr>
              <a:t>         - 6+ orders → remove automatic discounts</a:t>
            </a:r>
          </a:p>
          <a:p>
            <a:pPr marL="291465" lvl="1" algn="l">
              <a:lnSpc>
                <a:spcPts val="3779"/>
              </a:lnSpc>
            </a:pPr>
            <a:r>
              <a:rPr lang="en-US" sz="2500" b="1" dirty="0">
                <a:solidFill>
                  <a:srgbClr val="545454"/>
                </a:solidFill>
                <a:latin typeface="Garet"/>
                <a:ea typeface="Garet"/>
                <a:cs typeface="Garet"/>
                <a:sym typeface="Garet"/>
              </a:rPr>
              <a:t>Pricing Strategy:</a:t>
            </a:r>
          </a:p>
          <a:p>
            <a:pPr marL="582930" lvl="1" indent="-291465" algn="l">
              <a:lnSpc>
                <a:spcPts val="3779"/>
              </a:lnSpc>
              <a:buFont typeface="Arial"/>
              <a:buChar char="•"/>
            </a:pPr>
            <a:r>
              <a:rPr lang="en-US" sz="2500" dirty="0">
                <a:solidFill>
                  <a:srgbClr val="545454"/>
                </a:solidFill>
                <a:latin typeface="Garet"/>
                <a:ea typeface="Garet"/>
                <a:cs typeface="Garet"/>
                <a:sym typeface="Garet"/>
              </a:rPr>
              <a:t>Identify top-selling SKUs per city and stock them preferentially.</a:t>
            </a:r>
          </a:p>
          <a:p>
            <a:pPr marL="582930" lvl="1" indent="-291465" algn="l">
              <a:lnSpc>
                <a:spcPts val="3779"/>
              </a:lnSpc>
              <a:buFont typeface="Arial"/>
              <a:buChar char="•"/>
            </a:pPr>
            <a:r>
              <a:rPr lang="en-US" sz="2500" dirty="0">
                <a:solidFill>
                  <a:srgbClr val="545454"/>
                </a:solidFill>
                <a:latin typeface="Garet"/>
                <a:ea typeface="Garet"/>
                <a:cs typeface="Garet"/>
                <a:sym typeface="Garet"/>
              </a:rPr>
              <a:t>Reduce slow-moving SKUs in cities where they do not peak.</a:t>
            </a:r>
          </a:p>
          <a:p>
            <a:pPr marL="582930" lvl="1" indent="-291465" algn="l">
              <a:lnSpc>
                <a:spcPts val="3779"/>
              </a:lnSpc>
              <a:buFont typeface="Arial"/>
              <a:buChar char="•"/>
            </a:pPr>
            <a:r>
              <a:rPr lang="en-US" sz="2500" dirty="0">
                <a:solidFill>
                  <a:srgbClr val="545454"/>
                </a:solidFill>
                <a:latin typeface="Garet"/>
                <a:ea typeface="Garet"/>
                <a:cs typeface="Garet"/>
                <a:sym typeface="Garet"/>
              </a:rPr>
              <a:t>Set maximum discount limits by city:</a:t>
            </a:r>
          </a:p>
          <a:p>
            <a:pPr marL="582930" lvl="1" indent="-291465" algn="l">
              <a:lnSpc>
                <a:spcPts val="3779"/>
              </a:lnSpc>
              <a:buFont typeface="Arial"/>
              <a:buChar char="•"/>
            </a:pPr>
            <a:r>
              <a:rPr lang="en-US" sz="2500" dirty="0">
                <a:solidFill>
                  <a:srgbClr val="545454"/>
                </a:solidFill>
                <a:latin typeface="Garet"/>
                <a:ea typeface="Garet"/>
                <a:cs typeface="Garet"/>
                <a:sym typeface="Garet"/>
              </a:rPr>
              <a:t>High-AOV cities → low or capped discounts</a:t>
            </a:r>
          </a:p>
          <a:p>
            <a:pPr marL="582930" lvl="1" indent="-291465" algn="l">
              <a:lnSpc>
                <a:spcPts val="3779"/>
              </a:lnSpc>
              <a:buFont typeface="Arial"/>
              <a:buChar char="•"/>
            </a:pPr>
            <a:r>
              <a:rPr lang="en-US" sz="2500" dirty="0">
                <a:solidFill>
                  <a:srgbClr val="545454"/>
                </a:solidFill>
                <a:latin typeface="Garet"/>
                <a:ea typeface="Garet"/>
                <a:cs typeface="Garet"/>
                <a:sym typeface="Garet"/>
              </a:rPr>
              <a:t>Low-AOV cities → flexible, promotional discounts</a:t>
            </a:r>
          </a:p>
          <a:p>
            <a:pPr marL="582930" lvl="1" indent="-291465" algn="l">
              <a:lnSpc>
                <a:spcPts val="3779"/>
              </a:lnSpc>
              <a:buFont typeface="Arial"/>
              <a:buChar char="•"/>
            </a:pPr>
            <a:r>
              <a:rPr lang="en-US" sz="2500" dirty="0">
                <a:solidFill>
                  <a:srgbClr val="545454"/>
                </a:solidFill>
                <a:latin typeface="Garet"/>
                <a:ea typeface="Garet"/>
                <a:cs typeface="Garet"/>
                <a:sym typeface="Garet"/>
              </a:rPr>
              <a:t>Review discount usage monthly at city level.</a:t>
            </a:r>
          </a:p>
        </p:txBody>
      </p:sp>
      <p:sp>
        <p:nvSpPr>
          <p:cNvPr id="9" name="TextBox 9"/>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08</a:t>
            </a:r>
          </a:p>
        </p:txBody>
      </p:sp>
      <p:sp>
        <p:nvSpPr>
          <p:cNvPr id="10" name="TextBox 10"/>
          <p:cNvSpPr txBox="1"/>
          <p:nvPr/>
        </p:nvSpPr>
        <p:spPr>
          <a:xfrm>
            <a:off x="1417385" y="6734336"/>
            <a:ext cx="7566511" cy="1436291"/>
          </a:xfrm>
          <a:prstGeom prst="rect">
            <a:avLst/>
          </a:prstGeom>
        </p:spPr>
        <p:txBody>
          <a:bodyPr lIns="0" tIns="0" rIns="0" bIns="0" rtlCol="0" anchor="t">
            <a:spAutoFit/>
          </a:bodyPr>
          <a:lstStyle/>
          <a:p>
            <a:pPr algn="just">
              <a:lnSpc>
                <a:spcPts val="3779"/>
              </a:lnSpc>
            </a:pPr>
            <a:r>
              <a:rPr lang="en-US" sz="2500" dirty="0">
                <a:solidFill>
                  <a:srgbClr val="545454"/>
                </a:solidFill>
                <a:latin typeface="Garet"/>
                <a:ea typeface="Garet"/>
                <a:cs typeface="Garet"/>
                <a:sym typeface="Garet"/>
              </a:rPr>
              <a:t>z: Service level factor(Often stock runout).</a:t>
            </a:r>
          </a:p>
          <a:p>
            <a:pPr algn="just">
              <a:lnSpc>
                <a:spcPts val="3779"/>
              </a:lnSpc>
            </a:pPr>
            <a:r>
              <a:rPr lang="en-US" sz="2500" dirty="0">
                <a:solidFill>
                  <a:srgbClr val="545454"/>
                </a:solidFill>
                <a:latin typeface="Garet"/>
                <a:ea typeface="Garet"/>
                <a:cs typeface="Garet"/>
                <a:sym typeface="Garet"/>
              </a:rPr>
              <a:t>σ: Demand variability(std of demand).</a:t>
            </a:r>
          </a:p>
          <a:p>
            <a:pPr algn="just">
              <a:lnSpc>
                <a:spcPts val="3779"/>
              </a:lnSpc>
              <a:spcBef>
                <a:spcPct val="0"/>
              </a:spcBef>
            </a:pPr>
            <a:r>
              <a:rPr lang="en-US" sz="2500" dirty="0">
                <a:solidFill>
                  <a:srgbClr val="545454"/>
                </a:solidFill>
                <a:latin typeface="Garet"/>
                <a:ea typeface="Garet"/>
                <a:cs typeface="Garet"/>
                <a:sym typeface="Garet"/>
              </a:rPr>
              <a:t>L: Lead Time</a:t>
            </a:r>
            <a:r>
              <a:rPr lang="en-US" sz="2500">
                <a:solidFill>
                  <a:srgbClr val="545454"/>
                </a:solidFill>
                <a:latin typeface="Garet"/>
                <a:ea typeface="Garet"/>
                <a:cs typeface="Garet"/>
                <a:sym typeface="Garet"/>
              </a:rPr>
              <a:t>(replenishment time).</a:t>
            </a:r>
            <a:endParaRPr lang="en-US" sz="2500" dirty="0">
              <a:solidFill>
                <a:srgbClr val="545454"/>
              </a:solidFill>
              <a:latin typeface="Garet"/>
              <a:ea typeface="Garet"/>
              <a:cs typeface="Garet"/>
              <a:sym typeface="Gare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668325" y="4041844"/>
            <a:ext cx="12951349" cy="1974712"/>
          </a:xfrm>
          <a:prstGeom prst="rect">
            <a:avLst/>
          </a:prstGeom>
        </p:spPr>
        <p:txBody>
          <a:bodyPr lIns="0" tIns="0" rIns="0" bIns="0" rtlCol="0" anchor="t">
            <a:spAutoFit/>
          </a:bodyPr>
          <a:lstStyle/>
          <a:p>
            <a:pPr algn="ctr">
              <a:lnSpc>
                <a:spcPts val="16107"/>
              </a:lnSpc>
            </a:pPr>
            <a:r>
              <a:rPr lang="en-US" sz="11505" b="1">
                <a:solidFill>
                  <a:srgbClr val="3F3D3E"/>
                </a:solidFill>
                <a:latin typeface="Alexandria Bold"/>
                <a:ea typeface="Alexandria Bold"/>
                <a:cs typeface="Alexandria Bold"/>
                <a:sym typeface="Alexandria Bold"/>
              </a:rPr>
              <a:t>THANK YOU</a:t>
            </a: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AutoShape 5"/>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6" name="TextBox 6"/>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835</Words>
  <Application>Microsoft Office PowerPoint</Application>
  <PresentationFormat>Custom</PresentationFormat>
  <Paragraphs>81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Garet</vt:lpstr>
      <vt:lpstr>Calibri</vt:lpstr>
      <vt:lpstr>Garet Bold</vt:lpstr>
      <vt:lpstr>Arial</vt:lpstr>
      <vt:lpstr>Alexandria Bold</vt:lpstr>
      <vt:lpstr>Alexandria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and Forecasting of Coffee Sales Trends, Customer Loyalty, and Discount Impact</dc:title>
  <cp:lastModifiedBy>Sudhanshu Prabhat</cp:lastModifiedBy>
  <cp:revision>46</cp:revision>
  <dcterms:created xsi:type="dcterms:W3CDTF">2006-08-16T00:00:00Z</dcterms:created>
  <dcterms:modified xsi:type="dcterms:W3CDTF">2026-01-18T06:29:33Z</dcterms:modified>
  <dc:identifier>DAG-fFGH2bE</dc:identifier>
</cp:coreProperties>
</file>